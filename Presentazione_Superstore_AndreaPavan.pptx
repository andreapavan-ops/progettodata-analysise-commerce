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6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606040"/>
            <a:ext cx="103601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A8C4E8"/>
                </a:solidFill>
              </a:rPr>
              <a:t>📊  PROGETTO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Superstore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Andrea Pavan  |  ITS  |  2024-2025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</a:rPr>
              <a:t>Dataset: Sample Superstore  •  9.994 righe  •  Jan 2014 – Dec 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99BB"/>
                </a:solidFill>
              </a:rPr>
              <a:t>Analisi esplorativa  •  Visualizzazioni  •  Insight strategici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Cosa analizziamo oggi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417320"/>
            <a:ext cx="10424160" cy="4754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49047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Esplorazione del dataset — quanti ordini, clienti, prodotti?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93976"/>
            <a:ext cx="54864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093976"/>
            <a:ext cx="10424160" cy="4754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16712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Vendite e profitti per categoria e sotto-categoria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0632"/>
            <a:ext cx="54864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770632"/>
            <a:ext cx="10424160" cy="4754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843784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Analisi temporale — stagionalità e crescita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47287"/>
            <a:ext cx="54864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0215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447287"/>
            <a:ext cx="10424160" cy="4754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520439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Confronto tra segmenti di clienti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23944"/>
            <a:ext cx="54864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7880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4123944"/>
            <a:ext cx="10424160" cy="4754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4197096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Lo sconto fa bene o male? La soglia critica del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548640" cy="47548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554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4800600"/>
            <a:ext cx="10424160" cy="4754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87375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Bonus — Principio di Pareto (80/20)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77255"/>
            <a:ext cx="548640" cy="47548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321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5477255"/>
            <a:ext cx="10424160" cy="4754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5550407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Bonus 2 — Simulazione: top 20% prodotti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Q1 — Esplorazione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Quanti ordini, clienti, prodotti, regioni e categorie?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9.994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Righe totali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5.009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Ordini unici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793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Clienti distinti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1.862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Prodotti unici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82880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816352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40156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Categorie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2743200"/>
            <a:ext cx="182880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2032" y="2816352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40156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Regioni USA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2743200"/>
            <a:ext cx="182880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2816352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401568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Anni di dati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743200"/>
            <a:ext cx="2560320" cy="1188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852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57A"/>
                </a:solidFill>
              </a:rPr>
              <a:t>Categorie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186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Furniture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547872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Office Supplies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877056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Technology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743200"/>
            <a:ext cx="2560320" cy="1188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2852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57A"/>
                </a:solidFill>
              </a:rPr>
              <a:t>Regioni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32186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South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3547872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West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19" y="3877056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19" y="4206240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East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14800"/>
            <a:ext cx="112745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📅  Periodo coperto: Gennaio 2014 – Dicembre 2017  •  Dataset pulito: nessun valore mancante, date convertite in datetime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Q2 — Vendite e Profitti per Categoria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Quali categorie generano più valore?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51460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Categoria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25880"/>
            <a:ext cx="196596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Vendite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325880"/>
            <a:ext cx="196596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Profitto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325880"/>
            <a:ext cx="160020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13716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Margine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2514600" cy="42062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37943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Technology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783080"/>
            <a:ext cx="1965960" cy="42062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1837943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$836.154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783080"/>
            <a:ext cx="1965960" cy="42062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1837943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48"/>
                </a:solidFill>
              </a:rPr>
              <a:t>+$145.455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783080"/>
            <a:ext cx="1600200" cy="42062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1837943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48"/>
                </a:solidFill>
              </a:rPr>
              <a:t>17,4%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58568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313432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Office Supplies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258568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0672" y="231343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$719.047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258568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231343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48"/>
                </a:solidFill>
              </a:rPr>
              <a:t>+$122.491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258568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3134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48"/>
                </a:solidFill>
              </a:rPr>
              <a:t>17,0%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34056"/>
            <a:ext cx="2514600" cy="42062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788920"/>
            <a:ext cx="2377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Furniture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734056"/>
            <a:ext cx="1965960" cy="42062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278892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$742.000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2734056"/>
            <a:ext cx="1965960" cy="42062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2352" y="278892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+$18.451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2734056"/>
            <a:ext cx="1600200" cy="42062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4032" y="278892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2,5%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971800"/>
            <a:ext cx="502920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0815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⚠️  Sotto-categorie in PERDITA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447288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🔴 Tables:    -$17.725  (peggiore)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77647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🔴 Bookcases: -$3.473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10565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🔴 Supplies:  -$1.189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2971800"/>
            <a:ext cx="502920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6440" y="30815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48"/>
                </a:solidFill>
              </a:rPr>
              <a:t>✅  Sotto-categorie TOP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3447288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🟢 Copiers: +$55.618  (migliore)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3776472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🟢 Phones:  +$44.516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410565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🟢 Accessories: +$41.937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572000"/>
            <a:ext cx="108813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709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💡  Furniture vende quanto Technology ma guadagna 8x meno — urgente rivedere pricing di Tables e Bookcases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Q3 — Analisi Temporale delle Vendite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Stagionalità e crescita annuale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8648"/>
                </a:solidFill>
              </a:rPr>
              <a:t>Novembre
$352.461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Mese migliore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</a:rPr>
              <a:t>Febbraio
$59.751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Mese peggiore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+51%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Crescita 2014→2017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8648"/>
                </a:solidFill>
              </a:rPr>
              <a:t>2017
$733.215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Anno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11247120" cy="1874519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90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57A"/>
                </a:solidFill>
              </a:rPr>
              <a:t>📊  Pattern identificati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55848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📈  Q4 (Ott–Dic) genera quasi il doppio degli altri trimestri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85032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🛍️   Picco novembre: Black Friday + acquisti aziendali di fine anno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14216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📉  Febbraio è il minimo assoluto: 6x meno del picco di novembre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⚠️   Il 2015 è l'unica eccezione: lieve calo, poi ripresa forte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108813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💡  Con questa stagionalità l'azienda può pianificare scorte, campagne e personale in anticipo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Q4 — Segmenti di Clienti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Consumer, Corporate, Home Office: chi vale di più?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96596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Segmento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25880"/>
            <a:ext cx="132588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371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Ordini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325880"/>
            <a:ext cx="160020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13716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Vendite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325880"/>
            <a:ext cx="132588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1371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Margine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325880"/>
            <a:ext cx="4983480" cy="384048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371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Nota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96596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83794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Consumer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1783080"/>
            <a:ext cx="13258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1837943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2.586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783080"/>
            <a:ext cx="16002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6512" y="183794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$1.161.401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783080"/>
            <a:ext cx="13258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1837943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11,5%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783080"/>
            <a:ext cx="49834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183794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Il più grande per volume ma margine più basso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13432"/>
            <a:ext cx="1965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3682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Corporate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2313432"/>
            <a:ext cx="1325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23682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1.927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2313432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96512" y="23682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$706.146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313432"/>
            <a:ext cx="1325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2" y="23682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13,0%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313432"/>
            <a:ext cx="4983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88352" y="23682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Posizione intermedia su volumi e margine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843784"/>
            <a:ext cx="196596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28986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Home Office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2843784"/>
            <a:ext cx="13258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33472" y="28986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909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2843784"/>
            <a:ext cx="160020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6512" y="28986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$429.653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2843784"/>
            <a:ext cx="13258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3872" y="28986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48"/>
                </a:solidFill>
              </a:rPr>
              <a:t>14,0%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2843784"/>
            <a:ext cx="4983480" cy="457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8352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Il più piccolo, ma IL MARGINE MIGLIORE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29000"/>
            <a:ext cx="5303520" cy="20116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520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57A"/>
                </a:solidFill>
              </a:rPr>
              <a:t>🎯  Opportunità strategica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3913632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Home Office ha il margine più alto (14%) nonostante il volume minore.
Vale la pena investire per acquisire più clienti in questo segmento.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3429000"/>
            <a:ext cx="5577840" cy="2011680"/>
          </a:xfrm>
          <a:prstGeom prst="rect">
            <a:avLst/>
          </a:prstGeom>
          <a:solidFill>
            <a:srgbClr val="F2F5F9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3520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⚠️  Attenzione Consumer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1363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Nonostante rappresenti oltre il 50% degli ordini, il margine Consumer (11,5%) è il più basso.
Rischio: sconti eccessivi su un segmento già grande.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Q5 — Lo Sconto fa Bene o Male?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Correlazione sconto–profitto e soglia critica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</a:rPr>
              <a:t>-0,219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Correlazione Sconto→Profitto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</a:rPr>
              <a:t>-$135.376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Perdita totale sconti &gt;20%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67E22"/>
                </a:solidFill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Soglia critica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8648"/>
                </a:solidFill>
              </a:rPr>
              <a:t>+$67,5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Profitto medio 0-10% sconto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97480"/>
            <a:ext cx="2743200" cy="347472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2697480"/>
            <a:ext cx="2286000" cy="347472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2697480"/>
            <a:ext cx="3200400" cy="347472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Fascia Sconto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7432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Profitto Medio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7432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Valutazione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90672"/>
            <a:ext cx="27432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3090672"/>
            <a:ext cx="22860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0" y="3090672"/>
            <a:ext cx="32004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0% –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1455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48"/>
                </a:solidFill>
              </a:rPr>
              <a:t>+$67,5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1455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8648"/>
                </a:solidFill>
              </a:rPr>
              <a:t>✅ Profittevole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20439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3520439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3520439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57530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10% – 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5753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48"/>
                </a:solidFill>
              </a:rPr>
              <a:t>+$24,7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5753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8648"/>
                </a:solidFill>
              </a:rPr>
              <a:t>✅ Ancora positivo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50208"/>
            <a:ext cx="27432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3950208"/>
            <a:ext cx="22860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77840" y="3950208"/>
            <a:ext cx="32004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005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20% – 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0050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-$45,7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005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🔴 PERDITA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379976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6120" y="4379976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77840" y="4379976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30% – 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434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-$120,6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🔴 PERDITA ELEVATA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809744"/>
            <a:ext cx="27432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6120" y="4809744"/>
            <a:ext cx="22860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77840" y="4809744"/>
            <a:ext cx="3200400" cy="3840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86460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40% – 50%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486460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-$298,7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48646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🔴 PERDITA GRAVE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2697480"/>
            <a:ext cx="2743200" cy="2194560"/>
          </a:xfrm>
          <a:prstGeom prst="rect">
            <a:avLst/>
          </a:prstGeom>
          <a:solidFill>
            <a:srgbClr val="FFF3CD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2788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⚠️  Nota metodologica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3182112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4400"/>
                </a:solidFill>
              </a:rPr>
              <a:t>Correlazione ≠ causalità.
I prodotti difficili da vendere
potrebbero ricevere più sconti
— non lo sconto a causare perdite.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Conclusioni — 3 Insight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I risultati più actionable del progetto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94360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417320"/>
            <a:ext cx="10561320" cy="1417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904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57A"/>
                </a:solidFill>
              </a:rPr>
              <a:t>Sconti &gt; 20% distruggono valore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9280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Con sconti superiori al 20% l'azienda ha accumulato -$135.376 di perdita.
La soglia del 20% è il confine netto tra ordine profittevole e ordine in perdita.
Raccomandazione: cap massimo al 20% sugli sconti.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81528"/>
            <a:ext cx="594360" cy="14173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930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081528"/>
            <a:ext cx="10561320" cy="1417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1546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57A"/>
                </a:solidFill>
              </a:rPr>
              <a:t>Furniture vende tanto ma guadagna poco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5701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Furniture: $742.000 di vendite ma solo 2,5% di margine.
Technology stessa fascia di vendite: 17,4% di margine.
Tables e Bookcases sono addirittura in perdita → revisione pricing urgente.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45736"/>
            <a:ext cx="594360" cy="1417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5721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745736"/>
            <a:ext cx="10561320" cy="1417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81888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57A"/>
                </a:solidFill>
              </a:rPr>
              <a:t>Il Q4 vale quasi il doppio degli altri trimestri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2122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Novembre: $352.461.  Febbraio: $59.751.  Differenza: 6x.
Crescita annuale costante: +51% dal 2014 al 2017.
Pianificare scorte e campagne in anticipo sul Q4.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Bonus — Principio di Pareto (80/20)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Quanti prodotti generano l'80% del profitto?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8B8B"/>
                </a:solidFill>
              </a:rPr>
              <a:t>22,1%
(341 su 1.546)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Prodotti che generano 80% profitto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8648"/>
                </a:solidFill>
              </a:rPr>
              <a:t>Canon 2200
+$25.200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Prodotto 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</a:rPr>
              <a:t>Cubify 3D
-$8.880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Prodotto PEGGIORE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417320"/>
            <a:ext cx="2377440" cy="109728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1490472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8648"/>
                </a:solidFill>
              </a:rPr>
              <a:t>✅ SÌ
(anzi più concentrata)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07568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Regola confermata?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11247120" cy="2331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35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57A"/>
                </a:solidFill>
              </a:rPr>
              <a:t>📊  Risultati e implicazioni strategiche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01568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La regola 80/20 si conferma: bastano 341 prodotti su 1.546 per generare l'80% dei profitti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30752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Canon imageCLASS 2200 Advanced Copier: +$25.200 — da solo più di molte intere sotto-categorie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59936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I peggiori: Cubify 3D printers (-$8.880 e -$3.840) — in perdita cronica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Concentrare marketing e scorte sui 341 prodotti chiave → massimo ROI con minimo sforzo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18304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Rivalutare seriamente i prodotti in perdita cronica: eliminazione o rinegoziazione fornitori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Bonus 2 — Simulazione: Top 20% Prodotti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4E8"/>
                </a:solidFill>
              </a:rPr>
              <a:t>Cosa succederebbe tenendo solo i prodotti più redditizi?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2194560"/>
          </a:xfrm>
          <a:prstGeom prst="rect">
            <a:avLst/>
          </a:prstGeom>
          <a:solidFill>
            <a:srgbClr val="F2F5F9"/>
          </a:solidFill>
          <a:ln w="1524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57A"/>
                </a:solidFill>
              </a:rPr>
              <a:t>📋  Scenario attuale (tutti i prodotti)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Vendite totali: ~$2.297.000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Profitto totale: ~$286.000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700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Margine: ~12,5%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94960" cy="2194560"/>
          </a:xfrm>
          <a:prstGeom prst="rect">
            <a:avLst/>
          </a:prstGeom>
          <a:solidFill>
            <a:srgbClr val="F2F5F9"/>
          </a:solidFill>
          <a:ln w="1524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48"/>
                </a:solidFill>
              </a:rPr>
              <a:t>🎯  Scenario simulato (solo top 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0195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Vendite: calano drasticamente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8600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Profitto: migliora (no perdite)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700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Margine lordo: aumenta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463040"/>
            <a:ext cx="822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8B8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19202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58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57A"/>
                </a:solidFill>
              </a:rPr>
              <a:t>⚖️  Valutazione dello scenario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❌  I clienti che comprano prodotti eliminati potrebbero smettere di acquistare anche quelli profittevoli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53712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❌  I costi fissi (magazzino, personale) restano anche con meno prodotti a catalogo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82896"/>
            <a:ext cx="10927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 La scelta più prudente: limitare sconti al 20% MAX e rinegoziare fornitori di Tables e Bookcases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2194560"/>
          </a:xfrm>
          <a:prstGeom prst="rect">
            <a:avLst/>
          </a:prstGeom>
          <a:solidFill>
            <a:srgbClr val="16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834640"/>
            <a:ext cx="103601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Grazie per l'attenzione!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Andrea Pavan  |  ITS  |  2024-2025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C4E8"/>
                </a:solidFill>
              </a:rPr>
              <a:t>🥇  Sconti &gt; 20% → perdita certa   |   🥈  Furniture: margine 2,5% (urgente)   |   🥉  Q4 vale il doppio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799BB"/>
                </a:solidFill>
              </a:rPr>
              <a:t>Dataset: Sample Superstore  •  Strumenti: Python, Pandas, Matplotlib, Seaborn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AAFF"/>
                </a:solidFill>
              </a:rPr>
              <a:t>github.com/andreapavan-ops/ProgettoData-analysisE-commerce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