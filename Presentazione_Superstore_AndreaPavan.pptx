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480560"/>
            <a:ext cx="12188952" cy="2377440"/>
          </a:xfrm>
          <a:prstGeom prst="rect">
            <a:avLst/>
          </a:prstGeom>
          <a:solidFill>
            <a:srgbClr val="33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651760"/>
            <a:ext cx="10360152" cy="64008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0BBBB"/>
                </a:solidFill>
              </a:rPr>
              <a:t>📊  PROGETTO DATA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601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Superstore E-Commerce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DBBBB"/>
                </a:solidFill>
              </a:rPr>
              <a:t>Andrea Pavan  |  ITS  |  2024-2025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B8888"/>
                </a:solidFill>
              </a:rPr>
              <a:t>Dataset: Sample Superstore  •  9.994 righe  •  Jan 2014 – Dec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7777"/>
                </a:solidFill>
              </a:rPr>
              <a:t>Strumenti: Python  •  Pandas  •  Matplotlib  •  Seaborn  •  NumPy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Struttura dell'analisi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594360" cy="512064"/>
          </a:xfrm>
          <a:prstGeom prst="rect">
            <a:avLst/>
          </a:prstGeom>
          <a:solidFill>
            <a:srgbClr val="B5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81328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1389888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481328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Esplorazione iniziale — ordini, clienti, prodotti, regioni, categorie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48256"/>
            <a:ext cx="594360" cy="512064"/>
          </a:xfrm>
          <a:prstGeom prst="rect">
            <a:avLst/>
          </a:prstGeom>
          <a:solidFill>
            <a:srgbClr val="B5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3969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48256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139696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Vendite e profitti per categoria e sotto-categoria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06624"/>
            <a:ext cx="594360" cy="512064"/>
          </a:xfrm>
          <a:prstGeom prst="rect">
            <a:avLst/>
          </a:prstGeom>
          <a:solidFill>
            <a:srgbClr val="B5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98064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706624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2798064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Analisi temporale — stagionalità mensile e crescita annuale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64992"/>
            <a:ext cx="594360" cy="512064"/>
          </a:xfrm>
          <a:prstGeom prst="rect">
            <a:avLst/>
          </a:prstGeom>
          <a:solidFill>
            <a:srgbClr val="B5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56432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364992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456432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Confronto segmenti di clienti — volume vs margine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023360"/>
            <a:ext cx="594360" cy="512064"/>
          </a:xfrm>
          <a:prstGeom prst="rect">
            <a:avLst/>
          </a:prstGeom>
          <a:solidFill>
            <a:srgbClr val="B52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14800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23360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114800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Lo sconto fa bene o male? La soglia critica del 20%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681727"/>
            <a:ext cx="594360" cy="512064"/>
          </a:xfrm>
          <a:prstGeom prst="rect">
            <a:avLst/>
          </a:prstGeom>
          <a:solidFill>
            <a:srgbClr val="1E6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773167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681727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5880" y="4773167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Bonus — Principio di Pareto: 22% dei prodotti = 80% profitto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340096"/>
            <a:ext cx="594360" cy="512064"/>
          </a:xfrm>
          <a:prstGeom prst="rect">
            <a:avLst/>
          </a:prstGeom>
          <a:solidFill>
            <a:srgbClr val="1E6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3153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5340096"/>
            <a:ext cx="10515600" cy="51206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5880" y="5431536"/>
            <a:ext cx="10241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0A0A"/>
                </a:solidFill>
              </a:rPr>
              <a:t>Bonus 2 — Simulazione: eliminare l'80% dei prodotti meno redditizi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Q1 — Esplorazione del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Quanti ordini, prodotti, clienti, regioni e categorie?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9.994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Righe totali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5.009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Ordini unici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793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Clienti distinti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1.862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Prodotti unici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33472"/>
            <a:ext cx="173736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88336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73552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Categorie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633472"/>
            <a:ext cx="173736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31720" y="2688336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273552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Regioni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2633472"/>
            <a:ext cx="173736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0" y="2688336"/>
            <a:ext cx="1554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73552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Anni di dati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633472"/>
            <a:ext cx="2743200" cy="114300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B0D0D"/>
                </a:solidFill>
              </a:rPr>
              <a:t>Categorie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072384"/>
            <a:ext cx="2423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Furniture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401568"/>
            <a:ext cx="2423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Office Supplies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730752"/>
            <a:ext cx="2423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Technology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5400" y="2633472"/>
            <a:ext cx="2788920" cy="114300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272491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B0D0D"/>
                </a:solidFill>
              </a:rPr>
              <a:t>Regioni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072384"/>
            <a:ext cx="246887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South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401568"/>
            <a:ext cx="246887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West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730752"/>
            <a:ext cx="246887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Central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059936"/>
            <a:ext cx="246887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East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913632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0233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2222"/>
                </a:solidFill>
              </a:rPr>
              <a:t>📅  Periodo: Gennaio 2014 – Dicembre 2017   •   Pulizia: date convertite in datetime, nessun valore mancante, zero duplicati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526280"/>
            <a:ext cx="1143000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5720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</a:rPr>
              <a:t>📄  Codice — caricamento e pulizia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846320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 = pd.read_csv("Sample - Superstore.csv", encoding="latin-1")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093208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print(f"Ordini totali:   {df['Order ID'].nunique()}")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340096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print(f"Clienti:         {df['Customer ID'].nunique()}")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5586983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print(f"Prodotti unici:  {df['Product ID'].nunique()}")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833871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df['Order Date'] = pd.to_datetime(df['Order Date'], dayfirst=True)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080759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df['Ship Date']  = pd.to_datetime(df['Ship Date'],  dayfirst=True)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Q2 — Vendite e Profitti per Categoria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Quali categorie generano più valore?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59689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2468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325880"/>
            <a:ext cx="195681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82112" y="13716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Vendite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325880"/>
            <a:ext cx="195681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2" y="13716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Profitto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325880"/>
            <a:ext cx="1682495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352" y="1371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Margine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64792"/>
            <a:ext cx="259689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819656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1764792"/>
            <a:ext cx="195681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18196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$836.154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1764792"/>
            <a:ext cx="195681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18196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78645"/>
                </a:solidFill>
              </a:rPr>
              <a:t>+$145.455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764792"/>
            <a:ext cx="1682495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8196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78645"/>
                </a:solidFill>
              </a:rPr>
              <a:t>17,4%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40280"/>
            <a:ext cx="2596896" cy="42976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295144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Office Supplies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2240280"/>
            <a:ext cx="1956816" cy="42976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82112" y="2295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$719.047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12080" y="2240280"/>
            <a:ext cx="1956816" cy="42976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2295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78645"/>
                </a:solidFill>
              </a:rPr>
              <a:t>+$122.491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240280"/>
            <a:ext cx="1682495" cy="42976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88352" y="229514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78645"/>
                </a:solidFill>
              </a:rPr>
              <a:t>17,0%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715768"/>
            <a:ext cx="259689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2770632"/>
            <a:ext cx="24688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Furniture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0" y="2715768"/>
            <a:ext cx="195681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82112" y="2770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$742.000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12080" y="2715768"/>
            <a:ext cx="1956816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5232" y="2770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0392B"/>
                </a:solidFill>
              </a:rPr>
              <a:t>+$18.451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2715768"/>
            <a:ext cx="1682495" cy="42976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88352" y="27706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0392B"/>
                </a:solidFill>
              </a:rPr>
              <a:t>2,5%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926080"/>
            <a:ext cx="5029200" cy="141732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0175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392B"/>
                </a:solidFill>
              </a:rPr>
              <a:t>⚠️  Sotto-categorie IN PERDITA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364992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🔴 Tables:    -$17.725  (peggiore assoluto)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694176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🔴 Bookcases: -$3.473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23360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🔴 Supplies:  -$1.189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0" y="2926080"/>
            <a:ext cx="5029200" cy="141732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01752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E6B36"/>
                </a:solidFill>
              </a:rPr>
              <a:t>✅  Sotto-categorie TOP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720" y="3364992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🟢 Copiers:     +$55.618  (top assoluto)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3694176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🟢 Phones:      +$44.516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4023360"/>
            <a:ext cx="4709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🟢 Accessories: +$41.937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480560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459028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1111"/>
                </a:solidFill>
              </a:rPr>
              <a:t>💡  Furniture vende quasi quanto Technology ($742k vs $836k) ma guadagna 8× meno — Tables e Bookcases sono in perdita cronica.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138928"/>
            <a:ext cx="11430000" cy="1508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1846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</a:rPr>
              <a:t>📄  Codice — Q2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5458968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q2_sub = df.groupby('Sub-Category')[['Sales','Profit']].sum().sort_values('Profit')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705856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colors = ['#e74c3c' if x &lt; 0 else '#2ecc71' for x in q2_sub['Profit']]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952744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q2_sub['Profit'].plot(kind='barh', color=colors)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Q2 — Grafico: Profitto per Sotto-Categoria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Verde = profittevole  |  Rosso = in perdita</a:t>
            </a:r>
          </a:p>
        </p:txBody>
      </p:sp>
      <p:pic>
        <p:nvPicPr>
          <p:cNvPr id="6" name="Picture 5" descr="cell_17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10058400" cy="5303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Q3 — Analisi Temporale delle Vendite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Stagionalità mensile e crescita annuale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78645"/>
                </a:solidFill>
              </a:rPr>
              <a:t>Novembre
$352.461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Mese migliore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0392B"/>
                </a:solidFill>
              </a:rPr>
              <a:t>Febbraio
$59.751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Mese peggiore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+51%
2014→2017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Crescita totale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78645"/>
                </a:solidFill>
              </a:rPr>
              <a:t>2017
$733.215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Anno record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33472"/>
            <a:ext cx="11430000" cy="1874519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2491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B0D0D"/>
                </a:solidFill>
              </a:rPr>
              <a:t>📊  Pattern identificati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72384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📈  Il Q4 (Ott–Dic) genera quasi il doppio degli altri trimestri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01568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🛍️   Novembre: Black Friday + acquisti aziendali di fine anno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📉  Febbraio è il minimo: 6× sotto il picco di novembre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59936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⚠️   Il 2015 è l'unica eccezione: lieve calo rispetto al 2014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🚀  Dal 2015 crescita continua e accelerata fino a 2017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645152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754880"/>
            <a:ext cx="11430000" cy="1874519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8006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</a:rPr>
              <a:t>📄  Codice — 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074920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df['Year']  = df['Order Date'].dt.year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df['Month'] = df['Order Date'].dt.month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68696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vendite_mensili = df.groupby('Month')['Sales'].sum()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15583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vendite_annuali = df.groupby('Year')['Sales'].sum()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62471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vendite_mensili.plot(kind='bar')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09359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vendite_annuali.plot(marker='o')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Q3 — Grafici: Stagionalità e Crescita Annuale</a:t>
            </a:r>
          </a:p>
        </p:txBody>
      </p:sp>
      <p:pic>
        <p:nvPicPr>
          <p:cNvPr id="5" name="Picture 4" descr="cell_20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7132320" cy="5349240"/>
          </a:xfrm>
          <a:prstGeom prst="rect">
            <a:avLst/>
          </a:prstGeom>
        </p:spPr>
      </p:pic>
      <p:pic>
        <p:nvPicPr>
          <p:cNvPr id="6" name="Picture 5" descr="cell_21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280160"/>
            <a:ext cx="4389120" cy="5349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Q4 — Confronto Segmenti di Clienti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Volume vs margine: chi vale di più?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048255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44168"/>
            <a:ext cx="19202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Segmento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298448"/>
            <a:ext cx="140817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3441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Ordini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298448"/>
            <a:ext cx="1682495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7952" y="13441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Vendite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298448"/>
            <a:ext cx="140817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13441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Margine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298448"/>
            <a:ext cx="4700016" cy="384048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134416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Nota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48255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1801368"/>
            <a:ext cx="192023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0A"/>
                </a:solidFill>
              </a:rPr>
              <a:t>Consumer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1737360"/>
            <a:ext cx="140817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1801368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2.586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682495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87952" y="1801368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$1.161.401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737360"/>
            <a:ext cx="140817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752" y="1801368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11,5%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737360"/>
            <a:ext cx="470001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1" y="1801368"/>
            <a:ext cx="4572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Volume massimo, margine più basso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258568"/>
            <a:ext cx="2048255" cy="466344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2322575"/>
            <a:ext cx="192023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0A"/>
                </a:solidFill>
              </a:rPr>
              <a:t>Corporate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2258568"/>
            <a:ext cx="1408176" cy="466344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33472" y="2322575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1.927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258568"/>
            <a:ext cx="1682495" cy="466344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87952" y="2322575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$706.146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258568"/>
            <a:ext cx="1408176" cy="466344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16752" y="2322575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D1E"/>
                </a:solidFill>
              </a:rPr>
              <a:t>13,0%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258568"/>
            <a:ext cx="4700016" cy="466344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71231" y="2322575"/>
            <a:ext cx="4572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Posizione intermedia su tutto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79776"/>
            <a:ext cx="2048255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2843784"/>
            <a:ext cx="1920239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0A0A"/>
                </a:solidFill>
              </a:rPr>
              <a:t>Home Office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0" y="2779776"/>
            <a:ext cx="140817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33472" y="2843784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909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779776"/>
            <a:ext cx="1682495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87952" y="2843784"/>
            <a:ext cx="15544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$429.653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2779776"/>
            <a:ext cx="140817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2843784"/>
            <a:ext cx="12801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8645"/>
                </a:solidFill>
              </a:rPr>
              <a:t>14,0%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2779776"/>
            <a:ext cx="4700016" cy="466344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71231" y="2843784"/>
            <a:ext cx="45720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Volume minimo, MARGINE MIGLIORE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401568"/>
            <a:ext cx="5303520" cy="1920240"/>
          </a:xfrm>
          <a:prstGeom prst="rect">
            <a:avLst/>
          </a:prstGeom>
          <a:solidFill>
            <a:srgbClr val="F5F0F0"/>
          </a:solidFill>
          <a:ln w="19050">
            <a:solidFill>
              <a:srgbClr val="1E6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4930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E6B36"/>
                </a:solidFill>
              </a:rPr>
              <a:t>🎯  Opportunità strategica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3886200"/>
            <a:ext cx="5074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Home Office ha il margine più alto (14,0%) pur essendo il segmento più piccolo.
Investire per acquisire più clienti HO potrebbe aumentare la redditività totale.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01568"/>
            <a:ext cx="5943600" cy="1920240"/>
          </a:xfrm>
          <a:prstGeom prst="rect">
            <a:avLst/>
          </a:prstGeom>
          <a:solidFill>
            <a:srgbClr val="F5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9320" y="349300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392B"/>
                </a:solidFill>
              </a:rPr>
              <a:t>⚠️  Consumer: volume ≠ qualità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886200"/>
            <a:ext cx="56692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Consumer = 50%+ degli ordini ma margine solo 11,5%.
Probabile causa: sconti eccessivi su segmento retail.
Rivedere la politica sconti su questo segmento.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Q4 — Grafico: Vendite e Profitto per Segmento</a:t>
            </a:r>
          </a:p>
        </p:txBody>
      </p:sp>
      <p:pic>
        <p:nvPicPr>
          <p:cNvPr id="5" name="Picture 4" descr="cell_25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Q5 — Lo Sconto fa Bene o Male?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Correlazione sconto–profitto e soglia critica del 20%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0392B"/>
                </a:solidFill>
              </a:rPr>
              <a:t>-0,219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Correlazione
Sconto → Profitto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0392B"/>
                </a:solidFill>
              </a:rPr>
              <a:t>-$135.376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Perdita totale
sconti &gt; 20%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7D1E"/>
                </a:solidFill>
              </a:rP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Soglia critica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78645"/>
                </a:solidFill>
              </a:rPr>
              <a:t>+$67,5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Profitto medio
0-10% sconto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33472"/>
            <a:ext cx="1874520" cy="347472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679192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Fascia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2633472"/>
            <a:ext cx="1508760" cy="347472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32304" y="267919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Profitto Medio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33472"/>
            <a:ext cx="1417320" cy="347472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8224" y="267919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5577840" y="2633472"/>
            <a:ext cx="3429000" cy="347472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32703" y="267919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Valutazione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035808"/>
            <a:ext cx="187452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3090672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0% – 10%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0" y="3035808"/>
            <a:ext cx="150876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32304" y="309067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8645"/>
                </a:solidFill>
              </a:rPr>
              <a:t>+$67,5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3035808"/>
            <a:ext cx="342900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32703" y="309067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✅ Profittevole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465576"/>
            <a:ext cx="187452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352044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10% – 20%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3465576"/>
            <a:ext cx="150876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32304" y="35204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78645"/>
                </a:solidFill>
              </a:rPr>
              <a:t>+$24,7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3465576"/>
            <a:ext cx="342900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32703" y="352044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✅ Ancora positivo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95344"/>
            <a:ext cx="187452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3950207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20% – 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77440" y="3895344"/>
            <a:ext cx="150876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432304" y="3950207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-$45,7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3895344"/>
            <a:ext cx="342900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32703" y="3950207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🔴 PERDITA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325112"/>
            <a:ext cx="187452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4379975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30% –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77440" y="4325112"/>
            <a:ext cx="150876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32304" y="4379975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-$120,6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77840" y="4325112"/>
            <a:ext cx="3429000" cy="384048"/>
          </a:xfrm>
          <a:prstGeom prst="rect">
            <a:avLst/>
          </a:prstGeom>
          <a:solidFill>
            <a:srgbClr val="EBE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32703" y="4379975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🔴 PERDITA ELEVATA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754879"/>
            <a:ext cx="187452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" y="4809743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40% – 50%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4754879"/>
            <a:ext cx="150876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32304" y="4809743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-$298,7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4754879"/>
            <a:ext cx="3429000" cy="384048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32703" y="4809743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🔴 PERDITA GRAVE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5440" y="2633472"/>
            <a:ext cx="2743200" cy="2231136"/>
          </a:xfrm>
          <a:prstGeom prst="rect">
            <a:avLst/>
          </a:prstGeom>
          <a:solidFill>
            <a:srgbClr val="FFF4E0"/>
          </a:solidFill>
          <a:ln w="19050">
            <a:solidFill>
              <a:srgbClr val="E8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27249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7D1E"/>
                </a:solidFill>
              </a:rPr>
              <a:t>⚠️  Nota metodologica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3090672"/>
            <a:ext cx="256032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4400"/>
                </a:solidFill>
              </a:rPr>
              <a:t>Correlazione ≠ causalità.
I prodotti difficili da
vendere potrebbero già
ricevere più sconti.
— Non è detto che lo sconto
causi la perdita.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5029200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5760" y="5138928"/>
            <a:ext cx="11430000" cy="1508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1846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</a:rPr>
              <a:t>📄  Codice — Q5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458968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corr = df[['Discount','Profit']].corr()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5705856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bins = [0,.1,.2,.3,.4,.5,.6,.7,.8,1]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952744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df['Fascia'] = pd.cut(df['Discount'], bins=bins)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199631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df.groupby('Fascia')['Profit'].mean().plot(kind='bar', color=colors)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Q5 — Grafici: Sconto vs Profitto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Scatter plot + Profitto medio per fascia di sconto</a:t>
            </a:r>
          </a:p>
        </p:txBody>
      </p:sp>
      <p:pic>
        <p:nvPicPr>
          <p:cNvPr id="6" name="Picture 5" descr="cell_29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5349240"/>
          </a:xfrm>
          <a:prstGeom prst="rect">
            <a:avLst/>
          </a:prstGeom>
        </p:spPr>
      </p:pic>
      <p:pic>
        <p:nvPicPr>
          <p:cNvPr id="7" name="Picture 6" descr="cell_30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669280" cy="5349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280160"/>
            <a:ext cx="45720" cy="5349240"/>
          </a:xfrm>
          <a:prstGeom prst="rect">
            <a:avLst/>
          </a:prstGeom>
          <a:solidFill>
            <a:srgbClr val="DD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Conclusioni — 3 Insight Chiave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I risultati più actionable del progetto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621792" cy="1463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4708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🥇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1389888"/>
            <a:ext cx="10744200" cy="146304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1463040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6B0D0D"/>
                </a:solidFill>
              </a:rPr>
              <a:t>Sconti &gt; 20% distruggono valore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1883664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Con sconti &gt; 20% l'azienda ha accumulato -$135.376 di perdita.
Il 20% è il confine netto tra ordine profittevole e ordine in perdita.
→  Raccomandazione: cap massimo al 20% su tutti gli sconti.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035808"/>
            <a:ext cx="621792" cy="146304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49300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8992" y="3035808"/>
            <a:ext cx="10744200" cy="146304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6152" y="3108960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6B0D0D"/>
                </a:solidFill>
              </a:rPr>
              <a:t>Furniture vende tanto ma guadagna quasi niente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3529584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Furniture: $742k vendite, 2,5% margine. Technology stessa fascia: 17,4%.
Tables (-$17.725) e Bookcases (-$3.473) sono in perdita cronica.
→  Revisione urgente di pricing o rinegoziazione fornitori.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681728"/>
            <a:ext cx="621792" cy="1463040"/>
          </a:xfrm>
          <a:prstGeom prst="rect">
            <a:avLst/>
          </a:prstGeom>
          <a:solidFill>
            <a:srgbClr val="AD6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138928"/>
            <a:ext cx="621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8992" y="4681728"/>
            <a:ext cx="10744200" cy="146304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6152" y="4754880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6B0D0D"/>
                </a:solidFill>
              </a:rPr>
              <a:t>Il Q4 vale quasi il doppio degli altri trimestri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5175504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0A0A"/>
                </a:solidFill>
              </a:rPr>
              <a:t>Novembre: $352.461.  Febbraio: $59.751.  Differenza: 6×.
Crescita costante +51% dal 2014 al 2017.
→  Pianificare scorte, campagne e personale in anticipo sul Q4.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Bonus — Principio di Pareto (80/20)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Quanti prodotti generano l'80% del profitto totale?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D9534F"/>
                </a:solidFill>
              </a:rPr>
              <a:t>22,1%
341 su 1.546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Prodotti che generano
80% del profitto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78645"/>
                </a:solidFill>
              </a:rPr>
              <a:t>Canon 2200
+$25.200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Prodotto 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C0392B"/>
                </a:solidFill>
              </a:rPr>
              <a:t>Cubify 3D
-$8.880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Prodotto PEGGIORE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371600"/>
            <a:ext cx="2468880" cy="109728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426464"/>
            <a:ext cx="2286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278645"/>
                </a:solidFill>
              </a:rPr>
              <a:t>✅ SÌ
(anzi 78/22)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0116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63333"/>
                </a:solidFill>
              </a:rPr>
              <a:t>Regola 80/20
confermata?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33472"/>
            <a:ext cx="11430000" cy="2194560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2491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B0D0D"/>
                </a:solidFill>
              </a:rPr>
              <a:t>📊  Risultati e implicazioni strategiche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72384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La regola 80/20 si conferma e anzi è ancora più concentrata: bastano 341 prodotti su 1.546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01568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Canon imageCLASS 2200 Advanced Copier: +$25.200 — da solo più di intere sotto-categorie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30752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Peggiori: Cubify 3D printers (-$8.880 e -$3.840) — prodotti in perdita cronica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59936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Strategia: concentrare marketing e scorte sui 341 prodotti chiave → massimo 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Rivalutare prodotti in perdita cronica: eliminazione o rinegoziazione dei fornitori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956048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074920"/>
            <a:ext cx="11430000" cy="157276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</a:rPr>
              <a:t>📄  Codice — Bonus Pareto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394959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profitto_prodotti = df.groupby('Product Name')['Profit'].sum()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641848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profitto_positivi = profitto_prodotti[profitto_prodotti &gt; 0].sort_values(ascending=False)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88736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cumulato = profitto_positivi.cumsum() / profitto_positivi.sum() * 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135623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soglia_80 = (cumulato &lt;= 80).sum()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82511"/>
            <a:ext cx="11201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CC"/>
                </a:solidFill>
              </a:rPr>
              <a:t>print(f"Prodotti per 80% profitto: {soglia_80} ({soglia_80/len(cumulato)*100:.1f}%)")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Bonus — Curva di Pareto: Profitto Cumulativo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La linea arancione indica i 341 prodotti che generano l'80% del profitto</a:t>
            </a:r>
          </a:p>
        </p:txBody>
      </p:sp>
      <p:pic>
        <p:nvPicPr>
          <p:cNvPr id="6" name="Picture 5" descr="cell_34_ou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5349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Bonus 2 — Simulazione: Top 20% dei Prodotti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BBBB"/>
                </a:solidFill>
              </a:rPr>
              <a:t>Cosa succederebbe eliminando l'80% dei prodotti meno redditizi?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394960" cy="2286000"/>
          </a:xfrm>
          <a:prstGeom prst="rect">
            <a:avLst/>
          </a:prstGeom>
          <a:solidFill>
            <a:srgbClr val="F5F0F0"/>
          </a:solidFill>
          <a:ln w="1905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0D0D"/>
                </a:solidFill>
              </a:rPr>
              <a:t>📋  Scenario attuale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836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Vendite totali: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836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~$2.297.000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9514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Profitto totale: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951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~$286.000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Margine lordo: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0662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~12,5%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1945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D9534F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371600"/>
            <a:ext cx="5029200" cy="2286000"/>
          </a:xfrm>
          <a:prstGeom prst="rect">
            <a:avLst/>
          </a:prstGeom>
          <a:solidFill>
            <a:srgbClr val="F5F0F0"/>
          </a:solidFill>
          <a:ln w="19050">
            <a:solidFill>
              <a:srgbClr val="1E6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463040"/>
            <a:ext cx="4800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6B36"/>
                </a:solidFill>
              </a:rPr>
              <a:t>🎯  Scenario simulato (solo top 20%)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8836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Vendite: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88366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calano drasticamente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29514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Profitto: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2951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migliora (no perdite)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70662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0A0A"/>
                </a:solidFill>
              </a:rPr>
              <a:t>Margine lordo: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70662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0A0A"/>
                </a:solidFill>
              </a:rPr>
              <a:t>aumenta significativamente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822191"/>
            <a:ext cx="11430000" cy="1993392"/>
          </a:xfrm>
          <a:prstGeom prst="rect">
            <a:avLst/>
          </a:prstGeom>
          <a:solidFill>
            <a:srgbClr val="F5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913631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6B0D0D"/>
                </a:solidFill>
              </a:rPr>
              <a:t>⚖️  Valutazione critica dello scenario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61103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❌  I clienti che comprano prodotti eliminati potrebbero smettere di acquistare anche quelli profittevoli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90288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❌  I costi fissi (magazzino, personale) rimangono anche con meno prodotti a catalogo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19472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❌  Rischio di perdita di quote di mercato e di clienti fidelizzati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248656"/>
            <a:ext cx="1110996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0A0A"/>
                </a:solidFill>
              </a:rPr>
              <a:t>✅  La scelta più prudente: limitare sconti al 20% MAX e rinegoziare fornitori di Tables e Bookcases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943600"/>
            <a:ext cx="11430000" cy="4572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41111"/>
                </a:solidFill>
              </a:rPr>
              <a:t>💡  Conclusione simulazione: eliminare i prodotti in perdita migliora i margini ma le conseguenze sui ricavi e sulla fidelizzazione sono troppo rischiose.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B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2194560"/>
          </a:xfrm>
          <a:prstGeom prst="rect">
            <a:avLst/>
          </a:prstGeom>
          <a:solidFill>
            <a:srgbClr val="330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788920"/>
            <a:ext cx="10360152" cy="64008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6015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Grazie per l'attenzione!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DBBBB"/>
                </a:solidFill>
              </a:rPr>
              <a:t>Andrea Pavan  |  ITS  |  2024-2025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BBBB"/>
                </a:solidFill>
              </a:rPr>
              <a:t>🥇 Sconti &gt;20% → -$135k   |   🥈 Furniture: 2,5% margine (urgente)   |   🥉 Q4 vale il doppio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8348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8888"/>
                </a:solidFill>
              </a:rPr>
              <a:t>Strumenti: Python  •  Pandas  •  Matplotlib  •  Seaborn  •  NumPy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AAAA"/>
                </a:solidFill>
              </a:rPr>
              <a:t>github.com/andreapavan-ops/ProgettoData-analysisE-commerce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